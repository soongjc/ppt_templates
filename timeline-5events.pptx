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Poppins"/>
              </a:defRPr>
            </a:pPr>
            <a:r>
              <a:t>Maybank ASEAN Expansion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1">
                <a:solidFill>
                  <a:srgbClr val="7A7A7A"/>
                </a:solidFill>
                <a:latin typeface="Poppins"/>
              </a:defRPr>
            </a:pPr>
            <a:r>
              <a:t>Strategic market entry milestones for the regional banking division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3657600"/>
            <a:ext cx="9994392" cy="0"/>
          </a:xfrm>
          <a:prstGeom prst="line">
            <a:avLst/>
          </a:prstGeom>
          <a:ln w="19050">
            <a:solidFill>
              <a:srgbClr val="9C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96112" y="3456432"/>
            <a:ext cx="402336" cy="402336"/>
          </a:xfrm>
          <a:prstGeom prst="ellipse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4564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4991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9C8400"/>
                </a:solidFill>
                <a:latin typeface="Poppins"/>
              </a:defRPr>
            </a:pPr>
            <a:r>
              <a:t>Feb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14991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Poppins"/>
              </a:defRPr>
            </a:pPr>
            <a:r>
              <a:t>Thailand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63440"/>
            <a:ext cx="14991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454545"/>
                </a:solidFill>
                <a:latin typeface="Poppins"/>
              </a:defRPr>
            </a:pPr>
            <a:r>
              <a:t>Bangkok representative office opens</a:t>
            </a:r>
          </a:p>
        </p:txBody>
      </p:sp>
      <p:sp>
        <p:nvSpPr>
          <p:cNvPr id="10" name="Oval 9"/>
          <p:cNvSpPr/>
          <p:nvPr/>
        </p:nvSpPr>
        <p:spPr>
          <a:xfrm>
            <a:off x="3394710" y="3456432"/>
            <a:ext cx="402336" cy="402336"/>
          </a:xfrm>
          <a:prstGeom prst="ellipse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4710" y="34564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6298" y="2788920"/>
            <a:ext cx="14991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9C8400"/>
                </a:solidFill>
                <a:latin typeface="Poppins"/>
              </a:defRPr>
            </a:pPr>
            <a:r>
              <a:t>Apr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6298" y="4160520"/>
            <a:ext cx="14991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1A1A1A"/>
                </a:solidFill>
                <a:latin typeface="Poppins"/>
              </a:defRPr>
            </a:pPr>
            <a:r>
              <a:t>Vietnam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6298" y="4663440"/>
            <a:ext cx="14991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 i="0">
                <a:solidFill>
                  <a:srgbClr val="454545"/>
                </a:solidFill>
                <a:latin typeface="Poppins"/>
              </a:defRPr>
            </a:pPr>
            <a:r>
              <a:t>Ho Chi Minh City branch commissioning</a:t>
            </a:r>
          </a:p>
        </p:txBody>
      </p:sp>
      <p:sp>
        <p:nvSpPr>
          <p:cNvPr id="15" name="Oval 14"/>
          <p:cNvSpPr/>
          <p:nvPr/>
        </p:nvSpPr>
        <p:spPr>
          <a:xfrm>
            <a:off x="5893308" y="3456432"/>
            <a:ext cx="402336" cy="402336"/>
          </a:xfrm>
          <a:prstGeom prst="ellipse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3308" y="34564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4896" y="2788920"/>
            <a:ext cx="14991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9C8400"/>
                </a:solidFill>
                <a:latin typeface="Poppins"/>
              </a:defRPr>
            </a:pPr>
            <a:r>
              <a:t>Jul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4896" y="4160520"/>
            <a:ext cx="14991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1A1A1A"/>
                </a:solidFill>
                <a:latin typeface="Poppins"/>
              </a:defRPr>
            </a:pPr>
            <a:r>
              <a:t>Philippines Alliance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4896" y="4663440"/>
            <a:ext cx="14991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 i="0">
                <a:solidFill>
                  <a:srgbClr val="454545"/>
                </a:solidFill>
                <a:latin typeface="Poppins"/>
              </a:defRPr>
            </a:pPr>
            <a:r>
              <a:t>Strategic partnership with BDO announced</a:t>
            </a:r>
          </a:p>
        </p:txBody>
      </p:sp>
      <p:sp>
        <p:nvSpPr>
          <p:cNvPr id="20" name="Oval 19"/>
          <p:cNvSpPr/>
          <p:nvPr/>
        </p:nvSpPr>
        <p:spPr>
          <a:xfrm>
            <a:off x="8391906" y="3456432"/>
            <a:ext cx="402336" cy="402336"/>
          </a:xfrm>
          <a:prstGeom prst="ellipse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1906" y="34564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3494" y="2788920"/>
            <a:ext cx="14991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9C8400"/>
                </a:solidFill>
                <a:latin typeface="Poppins"/>
              </a:defRPr>
            </a:pPr>
            <a:r>
              <a:t>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3494" y="4160520"/>
            <a:ext cx="14991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1A1A1A"/>
                </a:solidFill>
                <a:latin typeface="Poppins"/>
              </a:defRPr>
            </a:pPr>
            <a:r>
              <a:t>Indonesia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3494" y="4663440"/>
            <a:ext cx="14991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 i="0">
                <a:solidFill>
                  <a:srgbClr val="454545"/>
                </a:solidFill>
                <a:latin typeface="Poppins"/>
              </a:defRPr>
            </a:pPr>
            <a:r>
              <a:t>Three new branches across Jakarta</a:t>
            </a:r>
          </a:p>
        </p:txBody>
      </p:sp>
      <p:sp>
        <p:nvSpPr>
          <p:cNvPr id="25" name="Oval 24"/>
          <p:cNvSpPr/>
          <p:nvPr/>
        </p:nvSpPr>
        <p:spPr>
          <a:xfrm>
            <a:off x="10890504" y="3456432"/>
            <a:ext cx="402336" cy="402336"/>
          </a:xfrm>
          <a:prstGeom prst="ellipse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90504" y="34564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673" y="2788920"/>
            <a:ext cx="14991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 i="0">
                <a:solidFill>
                  <a:srgbClr val="9C8400"/>
                </a:solidFill>
                <a:latin typeface="Poppins"/>
              </a:defRPr>
            </a:pPr>
            <a:r>
              <a:t>Nov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673" y="4160520"/>
            <a:ext cx="14991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 i="0">
                <a:solidFill>
                  <a:srgbClr val="1A1A1A"/>
                </a:solidFill>
                <a:latin typeface="Poppins"/>
              </a:defRPr>
            </a:pPr>
            <a:r>
              <a:t>Singapore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673" y="4663440"/>
            <a:ext cx="14991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454545"/>
                </a:solidFill>
                <a:latin typeface="Poppins"/>
              </a:defRPr>
            </a:pPr>
            <a:r>
              <a:t>Regional headquarters consolidation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7A7A7A"/>
                </a:solidFill>
                <a:latin typeface="Poppins"/>
              </a:defRPr>
            </a:pPr>
            <a:r>
              <a:t>Maybank  · 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